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6B6D4"/>
                </a:solidFill>
              </a:defRPr>
            </a:pPr>
            <a:r>
              <a:t>CYVANTIS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Enterprise Gateway Intelligence &amp; Security Nexus</a:t>
            </a:r>
          </a:p>
          <a:p>
            <a:pPr>
              <a:spcBef>
                <a:spcPts val="1500"/>
              </a:spcBef>
              <a:defRPr sz="1800">
                <a:solidFill>
                  <a:srgbClr val="CBD5E1"/>
                </a:solidFill>
              </a:defRPr>
            </a:pPr>
            <a:r>
              <a:t>Next-Gen AI-Driven Honeypot Threat Intelligence &amp; Automated Anomaly Prevention Engine</a:t>
            </a:r>
          </a:p>
          <a:p>
            <a:pPr>
              <a:spcBef>
                <a:spcPts val="3000"/>
              </a:spcBef>
              <a:defRPr sz="1600" b="1">
                <a:solidFill>
                  <a:srgbClr val="10B981"/>
                </a:solidFill>
              </a:defRPr>
            </a:pPr>
            <a:r>
              <a:t>IMPRENDITORE 5.0 | STARTUP SPRINT CHALLENGE 2026 (16-Hour Offline Hackathon)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01. THE PROBLEM STATEMENT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Why Traditional Cyber Defense Fails Against Modern Intrusions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💥 2.2M+ Daily Cyber Attacks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Automated brute-force &amp; botnet scripts attack enterprise cloud gateways continuously.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❌ Legacy Firewall Blindspots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Static rule-based firewalls only match known signatures and fail against Zero-Day exploits.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⚠️ Zero Real-Time Intelligence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SOCs lack live honeypot decoy telemetry to trap attackers, inspect payloads, and train predictive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02. THE SOLUTION — CYVANTIS NEXUS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Transforming Passive Enterprise Defense into Proactive AI Threat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🍯 Virtualized Honeypot Traps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Deploys virtualized Cowrie SSH/Telnet decoy nodes to trap attackers cleanly without risking assets.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🤖 Dual AI ML Inference Engine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Trained on 200,000 telemetry events to predict attack severity and flag zero-day anomalies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🖥️ Interactive SOC Terminal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Provides analysts with a 60FPS Matrix-style CMD console to search passwords, audit URLs, and run AI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03. KEY TECHNICAL INNOVATIONS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High-Impact Core Capabilities Built During the 16-Hour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🤖 Supervised Threat Severity Classifier: Scikit-learn RandomForest predicting Low, Medium, High, Critical severity.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🔍 Unsupervised Anomaly Outlier Detector: IsolationForest model pinpointing unknown zero-day attacks.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🔑 Database Credential Search Engine ('creds'): Instant lookup of captured attacker usernames &amp; passwords.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🌐 Attacker Origin &amp; Payload Recon ('top-ips', 'top-cmds'): Aggregates source IPs, GeoIP, ASNs &amp; script payloads.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• 🛡️ Defensive Website URL Security Audit ('audit-url'): Assesses SSL/TLS encryption, script droppers &amp; header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04. TECHNICAL ARCHITECTURE &amp;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⚛️ Frontend SOC Console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React 18 + TypeScript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Vite 8 Build Engine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TailwindCSS &amp; Dark Styling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60FPS HTML5 Matrix Canvas FX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🐍 Backend REST API Gateway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Python 3.11 + FastAPI (Async)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Uvicorn ASGI Web Server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SQLite 3 (cyvantis.db)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SQLAlchemy 2.0 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🤖 Machine Learning Pipeline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Scikit-Learn (v1.6+)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Pandas &amp; NumPy Vectors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Joblib Model Serialization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✓ 200,000 Telemetry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05. MACHINE LEARNING MODEL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23160" cy="384048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200,000</a:t>
            </a:r>
          </a:p>
          <a:p>
            <a:pPr algn="ctr"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Telemetry Dataset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2011680"/>
            <a:ext cx="2423160" cy="384048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92.40%</a:t>
            </a:r>
          </a:p>
          <a:p>
            <a:pPr algn="ctr"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Random Forest Test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2011680"/>
            <a:ext cx="2423160" cy="384048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92.30%</a:t>
            </a:r>
          </a:p>
          <a:p>
            <a:pPr algn="ctr"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Weighted F1 Score 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5984" y="2011680"/>
            <a:ext cx="2423160" cy="384048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9.99%</a:t>
            </a:r>
          </a:p>
          <a:p>
            <a:pPr algn="ctr"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Isolation Forest Anomaly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06. LIVE DEMONSTRATION &amp; COMMAND SHOWCASE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5912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&gt; creds --query admin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 Searches captured attacker usernames &amp; passwords from cyvantis.db</a:t>
            </a:r>
          </a:p>
          <a:p>
            <a:pPr>
              <a:spcBef>
                <a:spcPts val="1400"/>
              </a:spcBef>
              <a:defRPr sz="1800" b="1">
                <a:solidFill>
                  <a:srgbClr val="10B981"/>
                </a:solidFill>
              </a:defRPr>
            </a:pPr>
            <a:r>
              <a:t>&gt; top-ips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 Ranks top attacking IP addresses, ASN network &amp; country of origin</a:t>
            </a:r>
          </a:p>
          <a:p>
            <a:pPr>
              <a:spcBef>
                <a:spcPts val="1400"/>
              </a:spcBef>
              <a:defRPr sz="1800" b="1">
                <a:solidFill>
                  <a:srgbClr val="10B981"/>
                </a:solidFill>
              </a:defRPr>
            </a:pPr>
            <a:r>
              <a:t>&gt; top-cmds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 Ranks top malicious shell script payloads executed in honeypots</a:t>
            </a:r>
          </a:p>
          <a:p>
            <a:pPr>
              <a:spcBef>
                <a:spcPts val="1400"/>
              </a:spcBef>
              <a:defRPr sz="1800" b="1">
                <a:solidFill>
                  <a:srgbClr val="10B981"/>
                </a:solidFill>
              </a:defRPr>
            </a:pPr>
            <a:r>
              <a:t>&gt; audit-url &lt;url&gt;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 Defensive website URL security audit &amp; header compliance check</a:t>
            </a:r>
          </a:p>
          <a:p>
            <a:pPr>
              <a:spcBef>
                <a:spcPts val="1400"/>
              </a:spcBef>
              <a:defRPr sz="1800" b="1">
                <a:solidFill>
                  <a:srgbClr val="10B981"/>
                </a:solidFill>
              </a:defRPr>
            </a:pPr>
            <a:r>
              <a:t>&gt; pipeline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   Displays scikit-learn model architecture, parameters &amp; joblib specs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07. MARKET OPPORTUNITY &amp; BUSINESS MODEL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Commercial Viability &amp; Go-To-Market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🎯 Target Audience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Enterprise SOCs, Cloud Infrastructure Providers, Managed Security Service Providers (MSSPs).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💵 B2B SaaS Subscriptions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Tiered monthly licensing per monitored enterprise gateway node.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📡 Threat Feed Licensing</a:t>
            </a:r>
          </a:p>
          <a:p>
            <a:pPr>
              <a:spcBef>
                <a:spcPts val="1500"/>
              </a:spcBef>
              <a:defRPr sz="1500">
                <a:solidFill>
                  <a:srgbClr val="CBD5E1"/>
                </a:solidFill>
              </a:defRPr>
            </a:pPr>
            <a:r>
              <a:t>Selling real-time honeypot IOC &amp; IP reputation API data feeds.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08. FUTURE ROADMAP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5912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1 (16h Hackathon MVP)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Full FastAPI backend, React SOC dashboard, 200k ML pipeline, interactive CMD terminal.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5912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2 (Next 3 Months)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Kubernetes Container Honeypot Cluster integration &amp; automated eBPF firewall IP blocking.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5912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3 (Next 6 Months)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Multi-Cloud deployment (AWS / Azure / GCP) &amp; LLM Threat Intelligence Summarizer.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09. CONCLUSION &amp; HACKATHON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200" b="1">
                <a:solidFill>
                  <a:srgbClr val="FFFFFF"/>
                </a:solidFill>
              </a:defRPr>
            </a:pPr>
            <a:r>
              <a:t>✓ Built fully working FastAPI Backend &amp; React Frontend in 16-Hour Startup Sprint.</a:t>
            </a:r>
          </a:p>
          <a:p>
            <a:pPr>
              <a:spcBef>
                <a:spcPts val="2000"/>
              </a:spcBef>
              <a:defRPr sz="2200" b="1">
                <a:solidFill>
                  <a:srgbClr val="FFFFFF"/>
                </a:solidFill>
              </a:defRPr>
            </a:pPr>
            <a:r>
              <a:t>✓ Trained Scikit-learn Random Forest (92.4% Acc) &amp; Isolation Forest on 200k events.</a:t>
            </a:r>
          </a:p>
          <a:p>
            <a:pPr>
              <a:spcBef>
                <a:spcPts val="2000"/>
              </a:spcBef>
              <a:defRPr sz="2200" b="1">
                <a:solidFill>
                  <a:srgbClr val="FFFFFF"/>
                </a:solidFill>
              </a:defRPr>
            </a:pPr>
            <a:r>
              <a:t>✓ Production-ready code, live Swagger docs (http://127.0.0.1:8000/api/v1/docs).</a:t>
            </a:r>
          </a:p>
          <a:p>
            <a:pPr>
              <a:spcBef>
                <a:spcPts val="2000"/>
              </a:spcBef>
              <a:defRPr sz="2200" b="1">
                <a:solidFill>
                  <a:srgbClr val="FFFFFF"/>
                </a:solidFill>
              </a:defRPr>
            </a:pPr>
            <a:r>
              <a:t>✓ Ready for live Q&amp;A &amp;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